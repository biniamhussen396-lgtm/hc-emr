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</a:defRPr>
            </a:pPr>
            <a:r>
              <a:t>BORU MEDA GENERAL HOSPITAL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Comprehensive Bahmni EMR User Guide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End-to-End Operational Manual for Clinical, Administrative &amp; Technical Staff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</a:defRPr>
            </a:pPr>
            <a:r>
              <a:t>Server Endpoint: https://196.189.94.149  |  Version: Bahmni Standard 1.1.0  |  Published: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Access &amp;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Server Address: </a:t>
            </a:r>
            <a:r>
              <a:rPr sz="1200">
                <a:solidFill>
                  <a:srgbClr val="1E293B"/>
                </a:solidFill>
              </a:rPr>
              <a:t>Access the hospital EMR securely via https://196.189.94.149 over encrypted HTTPS.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Security Notice: </a:t>
            </a:r>
            <a:r>
              <a:rPr sz="1200">
                <a:solidFill>
                  <a:srgbClr val="1E293B"/>
                </a:solidFill>
              </a:rPr>
              <a:t>Self-signed SSL certificate: Click 'Advanced' and proceed to site during first connection.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Supported Browsers: </a:t>
            </a:r>
            <a:r>
              <a:rPr sz="1200">
                <a:solidFill>
                  <a:srgbClr val="1E293B"/>
                </a:solidFill>
              </a:rPr>
              <a:t>Optimized for Google Chrome and Microsoft Edge (desktop viewports 1280x720 or higher).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Single Sign-On (SSO): </a:t>
            </a:r>
            <a:r>
              <a:rPr sz="1200">
                <a:solidFill>
                  <a:srgbClr val="1E293B"/>
                </a:solidFill>
              </a:rPr>
              <a:t>One unified credential grants access across Clinical, OpenELIS Laboratory, Odoo Billing, and PACS.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High Availability: </a:t>
            </a:r>
            <a:r>
              <a:rPr sz="1200">
                <a:solidFill>
                  <a:srgbClr val="1E293B"/>
                </a:solidFill>
              </a:rPr>
              <a:t>Powered by containerized Docker services running PostgreSQL, MySQL 8.0, and Apache 2.4.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Ensure workstations are connected to the internal hospital LAN or authorized health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home_dashboard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505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User Login &amp; Location Session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Authentication Credentials: </a:t>
            </a:r>
            <a:r>
              <a:rPr sz="1200">
                <a:solidFill>
                  <a:srgbClr val="1E293B"/>
                </a:solidFill>
              </a:rPr>
              <a:t>Enter assigned username (e.g., Admin, Dr. Name, Nurse) and secure password.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Department Location Picker: </a:t>
            </a:r>
            <a:r>
              <a:rPr sz="1200">
                <a:solidFill>
                  <a:srgbClr val="1E293B"/>
                </a:solidFill>
              </a:rPr>
              <a:t>Select your active duty station (e.g., OPD 1, Emergency, General Ward, Lab, Pharmacy).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Audit Compliance: </a:t>
            </a:r>
            <a:r>
              <a:rPr sz="1200">
                <a:solidFill>
                  <a:srgbClr val="1E293B"/>
                </a:solidFill>
              </a:rPr>
              <a:t>Every login, transaction, and patient record access is permanently stamped with your user ID and location.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Password Security: </a:t>
            </a:r>
            <a:r>
              <a:rPr sz="1200">
                <a:solidFill>
                  <a:srgbClr val="1E293B"/>
                </a:solidFill>
              </a:rPr>
              <a:t>Do not share passwords. Session locks automatically after inactivity to maintain HIPAA/patient privacy.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Multi-Role Privileges: </a:t>
            </a:r>
            <a:r>
              <a:rPr sz="1200">
                <a:solidFill>
                  <a:srgbClr val="1E293B"/>
                </a:solidFill>
              </a:rPr>
              <a:t>System features adapt automatically according to clinical credentials and department roles.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If your location changes mid-shift, logout and re-select your new ward or clinic 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login_page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NAVIGATION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Home Dashboard &amp; Unified App Launcher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Central App Grid: </a:t>
            </a:r>
            <a:r>
              <a:rPr sz="1200">
                <a:solidFill>
                  <a:srgbClr val="1E293B"/>
                </a:solidFill>
              </a:rPr>
              <a:t>Clean tile-based dashboard providing one-click access to all hospital modules.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Core Clinical Modules: </a:t>
            </a:r>
            <a:r>
              <a:rPr sz="1200">
                <a:solidFill>
                  <a:srgbClr val="1E293B"/>
                </a:solidFill>
              </a:rPr>
              <a:t>Triage, Registration, Programs, Clinical Consultation, InPatient, and OPD Assignment.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Diagnostic &amp; Ancillary: </a:t>
            </a:r>
            <a:r>
              <a:rPr sz="1200">
                <a:solidFill>
                  <a:srgbClr val="1E293B"/>
                </a:solidFill>
              </a:rPr>
              <a:t>Radiology Upload, Patient Documents, Appointment Scheduling, and Reports.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System Administration: </a:t>
            </a:r>
            <a:r>
              <a:rPr sz="1200">
                <a:solidFill>
                  <a:srgbClr val="1E293B"/>
                </a:solidFill>
              </a:rPr>
              <a:t>Admin portal for bulk CSV masterdata, audit trail analysis, bed configs, and backup.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Consistent Navigation: </a:t>
            </a:r>
            <a:r>
              <a:rPr sz="1200">
                <a:solidFill>
                  <a:srgbClr val="1E293B"/>
                </a:solidFill>
              </a:rPr>
              <a:t>Click the 'Home' icon in the top header at any time to return to this dashboard.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Apps displayed on your dashboard reflect your role privileges (e.g., Doctors see Clinical; Cashiers see Billing).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home_dashboard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505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PATIENT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Patient Registration &amp; Identity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Unique Patient Identifier (MRN): </a:t>
            </a:r>
            <a:r>
              <a:rPr sz="1200">
                <a:solidFill>
                  <a:srgbClr val="1E293B"/>
                </a:solidFill>
              </a:rPr>
              <a:t>System automatically generates unique Medical Record Numbers for every patient.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Duplicate Prevention: </a:t>
            </a:r>
            <a:r>
              <a:rPr sz="1200">
                <a:solidFill>
                  <a:srgbClr val="1E293B"/>
                </a:solidFill>
              </a:rPr>
              <a:t>Search existing patients by Name, Phone Number, or National ID before creating new records.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Ethiopian Calendar Support: </a:t>
            </a:r>
            <a:r>
              <a:rPr sz="1200">
                <a:solidFill>
                  <a:srgbClr val="1E293B"/>
                </a:solidFill>
              </a:rPr>
              <a:t>Built-in dual Ethiopian &amp; Gregorian calendar converter for birthdates and visit dates.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Demographic Capturing: </a:t>
            </a:r>
            <a:r>
              <a:rPr sz="1200">
                <a:solidFill>
                  <a:srgbClr val="1E293B"/>
                </a:solidFill>
              </a:rPr>
              <a:t>Record Woreda, Kebele, House No, Contact Info, Emergency Contact, and Sponsoring Entity.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Direct Action Routing: </a:t>
            </a:r>
            <a:r>
              <a:rPr sz="1200">
                <a:solidFill>
                  <a:srgbClr val="1E293B"/>
                </a:solidFill>
              </a:rPr>
              <a:t>Quickly start an OPD Visit, Emergency Triage Visit, or direct Consultation from registration.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Always verify Phone Number and Kebele to facilitate emergency contact and follow-up tracing.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registration_form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EMERGENCY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Triage &amp; Vital Signs Recording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Vital Signs Entry: </a:t>
            </a:r>
            <a:r>
              <a:rPr sz="1200">
                <a:solidFill>
                  <a:srgbClr val="1E293B"/>
                </a:solidFill>
              </a:rPr>
              <a:t>Record Blood Pressure (Systolic/Diastolic), Pulse, Respiratory Rate, Temp, and SpO2.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Emergency Oxygen Tracking: </a:t>
            </a:r>
            <a:r>
              <a:rPr sz="1200">
                <a:solidFill>
                  <a:srgbClr val="1E293B"/>
                </a:solidFill>
              </a:rPr>
              <a:t>Indicate oxygen therapy requirements and flow rates for critical patient monitoring.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Acuity Classification: </a:t>
            </a:r>
            <a:r>
              <a:rPr sz="1200">
                <a:solidFill>
                  <a:srgbClr val="1E293B"/>
                </a:solidFill>
              </a:rPr>
              <a:t>Tag patient condition: Red (Emergency), Yellow (Urgent), or Green (Stable non-urgent).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Automated Flowsheet: </a:t>
            </a:r>
            <a:r>
              <a:rPr sz="1200">
                <a:solidFill>
                  <a:srgbClr val="1E293B"/>
                </a:solidFill>
              </a:rPr>
              <a:t>Vitals entered at triage instantly appear on the doctor's consultation dashboard in real time.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Fast-Track Routing: </a:t>
            </a:r>
            <a:r>
              <a:rPr sz="1200">
                <a:solidFill>
                  <a:srgbClr val="1E293B"/>
                </a:solidFill>
              </a:rPr>
              <a:t>Immediately transfers patient queue to OPD doctor or emergency physician without delay.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Critical triage alerts flash on clinical workstations to ensure immediate emergency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triage_clinical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CLINICAL EHR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Outpatient Clinical Consultation &amp; EHR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Holistic Patient Summary: </a:t>
            </a:r>
            <a:r>
              <a:rPr sz="1200">
                <a:solidFill>
                  <a:srgbClr val="1E293B"/>
                </a:solidFill>
              </a:rPr>
              <a:t>View complete medical history, previous visits, allergies, chronic conditions, and past vitals.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Chief Complaint &amp; HPI: </a:t>
            </a:r>
            <a:r>
              <a:rPr sz="1200">
                <a:solidFill>
                  <a:srgbClr val="1E293B"/>
                </a:solidFill>
              </a:rPr>
              <a:t>Document narrative clinical findings, history of present illness, and physical exam findings.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ICD-10 / CIEL Diagnosis: </a:t>
            </a:r>
            <a:r>
              <a:rPr sz="1200">
                <a:solidFill>
                  <a:srgbClr val="1E293B"/>
                </a:solidFill>
              </a:rPr>
              <a:t>Search standardized diagnoses with coded ICD-10 mapping (Primary &amp; Secondary diagnoses).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Clinical Dispositions: </a:t>
            </a:r>
            <a:r>
              <a:rPr sz="1200">
                <a:solidFill>
                  <a:srgbClr val="1E293B"/>
                </a:solidFill>
              </a:rPr>
              <a:t>Admit to Ward, Discharge, Transfer, Follow-up Appointment, or Inter-Facility Referral.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Digital Signature: </a:t>
            </a:r>
            <a:r>
              <a:rPr sz="1200">
                <a:solidFill>
                  <a:srgbClr val="1E293B"/>
                </a:solidFill>
              </a:rPr>
              <a:t>Consultation note automatically captures attending doctor name and timestamp.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Use the 'Save' button regularly during long examinations to persist clinical notes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consultation_dashboard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INVESTIGATIONS &amp;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Investigations, Orders &amp; Lab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Order Selector: </a:t>
            </a:r>
            <a:r>
              <a:rPr sz="1200">
                <a:solidFill>
                  <a:srgbClr val="1E293B"/>
                </a:solidFill>
              </a:rPr>
              <a:t>Search lab tests (CBC, Urinalysis, Blood Chemistry) and radiology exams (X-Ray, Ultrasound, CT).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Order Templates: </a:t>
            </a:r>
            <a:r>
              <a:rPr sz="1200">
                <a:solidFill>
                  <a:srgbClr val="1E293B"/>
                </a:solidFill>
              </a:rPr>
              <a:t>Pre-configured bundles for Antenatal, Trauma, Diabetic, and Fever workups save ordering time.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OpenELIS Bidirectional Sync: </a:t>
            </a:r>
            <a:r>
              <a:rPr sz="1200">
                <a:solidFill>
                  <a:srgbClr val="1E293B"/>
                </a:solidFill>
              </a:rPr>
              <a:t>Orders transfer electronically to OpenELIS Laboratory; results stream back automatically.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Urgency Levels: </a:t>
            </a:r>
            <a:r>
              <a:rPr sz="1200">
                <a:solidFill>
                  <a:srgbClr val="1E293B"/>
                </a:solidFill>
              </a:rPr>
              <a:t>Flag urgent tests as STAT / Emergency for prioritized laboratory processing.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Cumulative Flowsheets: </a:t>
            </a:r>
            <a:r>
              <a:rPr sz="1200">
                <a:solidFill>
                  <a:srgbClr val="1E293B"/>
                </a:solidFill>
              </a:rPr>
              <a:t>Track lab parameter trends over time across consecutive patient visits.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Doctors can review lab results directly on the patient dashboard without waiting for paper slips.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orders_investigations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INPATIENT ADMISSIONS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Inpatient Admission &amp; Bed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Visual Ward Map: </a:t>
            </a:r>
            <a:r>
              <a:rPr sz="1200">
                <a:solidFill>
                  <a:srgbClr val="1E293B"/>
                </a:solidFill>
              </a:rPr>
              <a:t>Interactive graphical layout of all hospital wards (Medical, Surgical, Pediatric, Maternity, ICU).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Real-Time Bed Status: </a:t>
            </a:r>
            <a:r>
              <a:rPr sz="1200">
                <a:solidFill>
                  <a:srgbClr val="1E293B"/>
                </a:solidFill>
              </a:rPr>
              <a:t>Color-coded beds show Available (Green), Occupied (Blue), and Maintenance (Gray).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Seamless Bed Allocation: </a:t>
            </a:r>
            <a:r>
              <a:rPr sz="1200">
                <a:solidFill>
                  <a:srgbClr val="1E293B"/>
                </a:solidFill>
              </a:rPr>
              <a:t>Drag-and-drop or single-click admission directly assigns admitted patient to vacant bed.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Inter-Ward Transfer: </a:t>
            </a:r>
            <a:r>
              <a:rPr sz="1200">
                <a:solidFill>
                  <a:srgbClr val="1E293B"/>
                </a:solidFill>
              </a:rPr>
              <a:t>Move patients between beds or wards with automatic audit history and nurse handoff.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Discharge Processing: </a:t>
            </a:r>
            <a:r>
              <a:rPr sz="1200">
                <a:solidFill>
                  <a:srgbClr val="1E293B"/>
                </a:solidFill>
              </a:rPr>
              <a:t>Frees the bed instantly upon clinical discharge and finalizes inpatient stay billing.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Bed occupancy rates update dynamically, helping nursing supervisors manage ward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_bed_management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9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PATIENT REFERRAL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Inter-Facility Referral &amp; Printable Referral Slip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Referral Disposition: </a:t>
            </a:r>
            <a:r>
              <a:rPr sz="1200">
                <a:solidFill>
                  <a:srgbClr val="1E293B"/>
                </a:solidFill>
              </a:rPr>
              <a:t>Select 'Refer Patient' disposition in consultation to initiate transfer workflow.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Comprehensive Transfer Record: </a:t>
            </a:r>
            <a:r>
              <a:rPr sz="1200">
                <a:solidFill>
                  <a:srgbClr val="1E293B"/>
                </a:solidFill>
              </a:rPr>
              <a:t>Captures Receiving Hospital, Specialty Dept, Reason, Clinical History, and Treatments.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Synced Facility Branding: </a:t>
            </a:r>
            <a:r>
              <a:rPr sz="1200">
                <a:solidFill>
                  <a:srgbClr val="1E293B"/>
                </a:solidFill>
              </a:rPr>
              <a:t>Referral Slip dynamically prints 'BORU MEDA GENERAL HOSPITAL' and official logo.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Ambulance &amp; Escort Logistics: </a:t>
            </a:r>
            <a:r>
              <a:rPr sz="1200">
                <a:solidFill>
                  <a:srgbClr val="1E293B"/>
                </a:solidFill>
              </a:rPr>
              <a:t>Flags requirements for medical escorts, oxygen support, and ambulance dispatch.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Standardized Print Layout: </a:t>
            </a:r>
            <a:r>
              <a:rPr sz="1200">
                <a:solidFill>
                  <a:srgbClr val="1E293B"/>
                </a:solidFill>
              </a:rPr>
              <a:t>Generates clean, standardized A4 referral slip ready for receiving facility handoff.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Click 'Print Referral Form' to generate an official hard copy for ambulance transport.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_referral_form_print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9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DOCUMENT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Digital Document &amp; Radiology Scan Uploads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Paperless Record Keeping: </a:t>
            </a:r>
            <a:r>
              <a:rPr sz="1200">
                <a:solidFill>
                  <a:srgbClr val="1E293B"/>
                </a:solidFill>
              </a:rPr>
              <a:t>Upload external referral letters, scanned lab sheets, identity cards, and discharge notes.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Radiology Upload Module: </a:t>
            </a:r>
            <a:r>
              <a:rPr sz="1200">
                <a:solidFill>
                  <a:srgbClr val="1E293B"/>
                </a:solidFill>
              </a:rPr>
              <a:t>Attach X-Ray, CT Scan, MRI, and Ultrasound digital images directly to patient file.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Multi-Format Compatibility: </a:t>
            </a:r>
            <a:r>
              <a:rPr sz="1200">
                <a:solidFill>
                  <a:srgbClr val="1E293B"/>
                </a:solidFill>
              </a:rPr>
              <a:t>Accepts JPEG, PNG, PDF, and DICOM imaging formats up to 50MB per upload.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Encounter Integration: </a:t>
            </a:r>
            <a:r>
              <a:rPr sz="1200">
                <a:solidFill>
                  <a:srgbClr val="1E293B"/>
                </a:solidFill>
              </a:rPr>
              <a:t>Uploaded files become permanent clinical attachments visible on the patient dashboard.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Secure Docker Volume Storage: </a:t>
            </a:r>
            <a:r>
              <a:rPr sz="1200">
                <a:solidFill>
                  <a:srgbClr val="1E293B"/>
                </a:solidFill>
              </a:rPr>
              <a:t>All files reside on dedicated encrypted storage volumes backed up automatically.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Clearly label uploaded document titles (e.g., 'Chest X-Ray 21-Oct-2026') for rapid clinical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patient_documents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533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Hospital Administration &amp; Master Data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CSV Bulk Upload: </a:t>
            </a:r>
            <a:r>
              <a:rPr sz="1200">
                <a:solidFill>
                  <a:srgbClr val="1E293B"/>
                </a:solidFill>
              </a:rPr>
              <a:t>Batch import patient registries, ICD-10 concepts, and pharmaceutical inventory via CSV.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CSV Export Tools: </a:t>
            </a:r>
            <a:r>
              <a:rPr sz="1200">
                <a:solidFill>
                  <a:srgbClr val="1E293B"/>
                </a:solidFill>
              </a:rPr>
              <a:t>Export demographic cohorts, disease reports, and operational metrics for health bureau analysis.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Audit Log Examiner: </a:t>
            </a:r>
            <a:r>
              <a:rPr sz="1200">
                <a:solidFill>
                  <a:srgbClr val="1E293B"/>
                </a:solidFill>
              </a:rPr>
              <a:t>Inspect detailed system event logs, user activities, timestamped edits, and logins.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Order Set Dashboard: </a:t>
            </a:r>
            <a:r>
              <a:rPr sz="1200">
                <a:solidFill>
                  <a:srgbClr val="1E293B"/>
                </a:solidFill>
              </a:rPr>
              <a:t>Create and maintain clinical order sets, custom drug protocols, and test bundles.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Bed Configuration: </a:t>
            </a:r>
            <a:r>
              <a:rPr sz="1200">
                <a:solidFill>
                  <a:srgbClr val="1E293B"/>
                </a:solidFill>
              </a:rPr>
              <a:t>Add, rename, or reconfigure hospital wards, rooms, and bed numbers as facility expands.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Administrative functions are restricted to authorized IT officers and Medical Directors.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admin_dashboard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0452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DISASTER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Disaster Recovery: System Backup &amp; Restore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Integrated Admin Tile: </a:t>
            </a:r>
            <a:r>
              <a:rPr sz="1200">
                <a:solidFill>
                  <a:srgbClr val="1E293B"/>
                </a:solidFill>
              </a:rPr>
              <a:t>Accessible directly inside the Admin portal under 'Backup &amp; Restore'.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Full System Backup: </a:t>
            </a:r>
            <a:r>
              <a:rPr sz="1200">
                <a:solidFill>
                  <a:srgbClr val="1E293B"/>
                </a:solidFill>
              </a:rPr>
              <a:t>Archives all databases (OpenMRS, OpenELIS, Odoo, Reports, PACS), 11 Docker volumes, and configs.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Database-Only Backup: </a:t>
            </a:r>
            <a:r>
              <a:rPr sz="1200">
                <a:solidFill>
                  <a:srgbClr val="1E293B"/>
                </a:solidFill>
              </a:rPr>
              <a:t>Lightweight, high-speed SQL dump of all relational databases for daily automated archiving.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Live Progress &amp; Logs Console: </a:t>
            </a:r>
            <a:r>
              <a:rPr sz="1200">
                <a:solidFill>
                  <a:srgbClr val="1E293B"/>
                </a:solidFill>
              </a:rPr>
              <a:t>Visual progress bar and live terminal stream operations in real time without page refresh.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One-Click Disaster Restore: </a:t>
            </a:r>
            <a:r>
              <a:rPr sz="1200">
                <a:solidFill>
                  <a:srgbClr val="1E293B"/>
                </a:solidFill>
              </a:rPr>
              <a:t>Restores system from selected archive with automated UI patch protection and safe restart.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Backups are stored locally in /opt/emr/backups/ and automatically pruned with a 10-archive retention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_backup_restor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SUPPORT &amp;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Routine Maintenance &amp; Helpdesk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Boru Meda General Hospital EMR (Server: 196.189.94.149)  |  Standard Operating Procedure &amp; User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Daily Automated Backups: </a:t>
            </a:r>
            <a:r>
              <a:rPr sz="1200">
                <a:solidFill>
                  <a:srgbClr val="1E293B"/>
                </a:solidFill>
              </a:rPr>
              <a:t>Scheduled nightly backups safeguard patient data without interrupting shift operations.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Zero-Downtime Patching: </a:t>
            </a:r>
            <a:r>
              <a:rPr sz="1200">
                <a:solidFill>
                  <a:srgbClr val="1E293B"/>
                </a:solidFill>
              </a:rPr>
              <a:t>UI updates and configurations deploy dynamically without restarting clinical containers.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Troubleshooting Connectivity: </a:t>
            </a:r>
            <a:r>
              <a:rPr sz="1200">
                <a:solidFill>
                  <a:srgbClr val="1E293B"/>
                </a:solidFill>
              </a:rPr>
              <a:t>Verify LAN network cable, ensure IP is 196.189.94.149, and clear browser cache if needed.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Password Resets: </a:t>
            </a:r>
            <a:r>
              <a:rPr sz="1200">
                <a:solidFill>
                  <a:srgbClr val="1E293B"/>
                </a:solidFill>
              </a:rPr>
              <a:t>Hospital IT administrator can reset credentials instantly via the OpenMRS administration console.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96D"/>
                </a:solidFill>
              </a:rPr>
              <a:t>Technical Escalation: </a:t>
            </a:r>
            <a:r>
              <a:rPr sz="1200">
                <a:solidFill>
                  <a:srgbClr val="1E293B"/>
                </a:solidFill>
              </a:rPr>
              <a:t>Contact Boru Meda Hospital IT Support Desk for urgent assistance or hardware support.</a:t>
            </a:r>
          </a:p>
          <a:p>
            <a:pPr>
              <a:spcBef>
                <a:spcPts val="800"/>
              </a:spcBef>
              <a:defRPr sz="1100" i="1" b="1">
                <a:solidFill>
                  <a:srgbClr val="D97706"/>
                </a:solidFill>
              </a:defRPr>
            </a:pPr>
            <a:r>
              <a:t>TIP / NOTE: Hospital IT Helpdesk: Contact Hospital Liaison Office / IT Department on Ext. 101.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266944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home_dashboard_b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505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